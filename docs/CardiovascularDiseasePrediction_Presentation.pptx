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59" r:id="rId5"/>
    <p:sldId id="260" r:id="rId6"/>
    <p:sldId id="266" r:id="rId7"/>
    <p:sldId id="267" r:id="rId8"/>
    <p:sldId id="268"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8" d="100"/>
          <a:sy n="68" d="100"/>
        </p:scale>
        <p:origin x="616" y="4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6A4AC8-683B-4E01-A163-38294C5C1687}" type="datetimeFigureOut">
              <a:rPr lang="en-IN" smtClean="0"/>
              <a:t>11-03-2026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4F461C-CD54-4460-AD31-1B192F999E78}" type="slidenum">
              <a:rPr lang="en-IN" smtClean="0"/>
              <a:t>‹#›</a:t>
            </a:fld>
            <a:endParaRPr lang="en-IN"/>
          </a:p>
        </p:txBody>
      </p:sp>
    </p:spTree>
    <p:extLst>
      <p:ext uri="{BB962C8B-B14F-4D97-AF65-F5344CB8AC3E}">
        <p14:creationId xmlns:p14="http://schemas.microsoft.com/office/powerpoint/2010/main" val="3811116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764F461C-CD54-4460-AD31-1B192F999E78}" type="slidenum">
              <a:rPr lang="en-IN" smtClean="0"/>
              <a:t>1</a:t>
            </a:fld>
            <a:endParaRPr lang="en-IN"/>
          </a:p>
        </p:txBody>
      </p:sp>
    </p:spTree>
    <p:extLst>
      <p:ext uri="{BB962C8B-B14F-4D97-AF65-F5344CB8AC3E}">
        <p14:creationId xmlns:p14="http://schemas.microsoft.com/office/powerpoint/2010/main" val="293655797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B9B08F88-7597-4F4E-BF9A-F3694584EFEC}" type="datetime1">
              <a:rPr lang="en-IN" smtClean="0"/>
              <a:t>11-03-2026</a:t>
            </a:fld>
            <a:endParaRPr lang="en-IN"/>
          </a:p>
        </p:txBody>
      </p:sp>
      <p:sp>
        <p:nvSpPr>
          <p:cNvPr id="5" name="Footer Placeholder 4"/>
          <p:cNvSpPr>
            <a:spLocks noGrp="1"/>
          </p:cNvSpPr>
          <p:nvPr>
            <p:ph type="ftr" sz="quarter" idx="11"/>
          </p:nvPr>
        </p:nvSpPr>
        <p:spPr/>
        <p:txBody>
          <a:bodyPr/>
          <a:lstStyle/>
          <a:p>
            <a:r>
              <a:rPr lang="en-IN" dirty="0"/>
              <a:t>Department of CSE</a:t>
            </a:r>
          </a:p>
        </p:txBody>
      </p:sp>
      <p:sp>
        <p:nvSpPr>
          <p:cNvPr id="6" name="Slide Number Placeholder 5"/>
          <p:cNvSpPr>
            <a:spLocks noGrp="1"/>
          </p:cNvSpPr>
          <p:nvPr>
            <p:ph type="sldNum" sz="quarter" idx="12"/>
          </p:nvPr>
        </p:nvSpPr>
        <p:spPr/>
        <p:txBody>
          <a:bodyPr/>
          <a:lstStyle/>
          <a:p>
            <a:fld id="{7F3C451E-D43E-4EBA-A8B7-0A3C29D929DE}" type="slidenum">
              <a:rPr lang="en-IN" smtClean="0"/>
              <a:t>‹#›</a:t>
            </a:fld>
            <a:endParaRPr lang="en-IN"/>
          </a:p>
        </p:txBody>
      </p:sp>
      <p:pic>
        <p:nvPicPr>
          <p:cNvPr id="1026" name="Picture 2">
            <a:extLst>
              <a:ext uri="{FF2B5EF4-FFF2-40B4-BE49-F238E27FC236}">
                <a16:creationId xmlns:a16="http://schemas.microsoft.com/office/drawing/2014/main" id="{8F8A6FE3-B52F-EC1B-5795-966ADBE2283C}"/>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32410" y="61913"/>
            <a:ext cx="2190750" cy="676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41734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EFF2A71-6AD5-4B51-92CD-A125176BEE0B}" type="datetime1">
              <a:rPr lang="en-IN" smtClean="0"/>
              <a:t>11-03-2026</a:t>
            </a:fld>
            <a:endParaRPr lang="en-IN"/>
          </a:p>
        </p:txBody>
      </p:sp>
      <p:sp>
        <p:nvSpPr>
          <p:cNvPr id="5" name="Footer Placeholder 4"/>
          <p:cNvSpPr>
            <a:spLocks noGrp="1"/>
          </p:cNvSpPr>
          <p:nvPr>
            <p:ph type="ftr" sz="quarter" idx="11"/>
          </p:nvPr>
        </p:nvSpPr>
        <p:spPr/>
        <p:txBody>
          <a:bodyPr/>
          <a:lstStyle/>
          <a:p>
            <a:r>
              <a:rPr lang="en-IN"/>
              <a:t>Department Name </a:t>
            </a:r>
          </a:p>
        </p:txBody>
      </p:sp>
      <p:sp>
        <p:nvSpPr>
          <p:cNvPr id="6" name="Slide Number Placeholder 5"/>
          <p:cNvSpPr>
            <a:spLocks noGrp="1"/>
          </p:cNvSpPr>
          <p:nvPr>
            <p:ph type="sldNum" sz="quarter" idx="12"/>
          </p:nvPr>
        </p:nvSpPr>
        <p:spPr/>
        <p:txBody>
          <a:bodyPr/>
          <a:lstStyle/>
          <a:p>
            <a:fld id="{7F3C451E-D43E-4EBA-A8B7-0A3C29D929DE}" type="slidenum">
              <a:rPr lang="en-IN" smtClean="0"/>
              <a:t>‹#›</a:t>
            </a:fld>
            <a:endParaRPr lang="en-IN"/>
          </a:p>
        </p:txBody>
      </p:sp>
      <p:pic>
        <p:nvPicPr>
          <p:cNvPr id="2050" name="Picture 2">
            <a:extLst>
              <a:ext uri="{FF2B5EF4-FFF2-40B4-BE49-F238E27FC236}">
                <a16:creationId xmlns:a16="http://schemas.microsoft.com/office/drawing/2014/main" id="{0E4E036D-081C-CAC8-E70E-65A959ABADF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9050" y="26987"/>
            <a:ext cx="2190750" cy="676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08033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90E6779-741E-4B6F-B683-80F12A677CD9}" type="datetime1">
              <a:rPr lang="en-IN" smtClean="0"/>
              <a:t>11-03-2026</a:t>
            </a:fld>
            <a:endParaRPr lang="en-IN"/>
          </a:p>
        </p:txBody>
      </p:sp>
      <p:sp>
        <p:nvSpPr>
          <p:cNvPr id="5" name="Footer Placeholder 4"/>
          <p:cNvSpPr>
            <a:spLocks noGrp="1"/>
          </p:cNvSpPr>
          <p:nvPr>
            <p:ph type="ftr" sz="quarter" idx="11"/>
          </p:nvPr>
        </p:nvSpPr>
        <p:spPr/>
        <p:txBody>
          <a:bodyPr/>
          <a:lstStyle/>
          <a:p>
            <a:r>
              <a:rPr lang="en-IN"/>
              <a:t>Department Name </a:t>
            </a:r>
          </a:p>
        </p:txBody>
      </p:sp>
      <p:sp>
        <p:nvSpPr>
          <p:cNvPr id="6" name="Slide Number Placeholder 5"/>
          <p:cNvSpPr>
            <a:spLocks noGrp="1"/>
          </p:cNvSpPr>
          <p:nvPr>
            <p:ph type="sldNum" sz="quarter" idx="12"/>
          </p:nvPr>
        </p:nvSpPr>
        <p:spPr/>
        <p:txBody>
          <a:bodyPr/>
          <a:lstStyle/>
          <a:p>
            <a:fld id="{7F3C451E-D43E-4EBA-A8B7-0A3C29D929DE}" type="slidenum">
              <a:rPr lang="en-IN" smtClean="0"/>
              <a:t>‹#›</a:t>
            </a:fld>
            <a:endParaRPr lang="en-IN"/>
          </a:p>
        </p:txBody>
      </p:sp>
      <p:pic>
        <p:nvPicPr>
          <p:cNvPr id="3074" name="Picture 2">
            <a:extLst>
              <a:ext uri="{FF2B5EF4-FFF2-40B4-BE49-F238E27FC236}">
                <a16:creationId xmlns:a16="http://schemas.microsoft.com/office/drawing/2014/main" id="{E7464B64-E646-B5D2-0FEB-67AAF0934906}"/>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6222" y="92075"/>
            <a:ext cx="2190750" cy="676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96606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46D7B938-1D45-43F3-8C70-A7AB481CACF2}" type="datetime1">
              <a:rPr lang="en-IN" smtClean="0"/>
              <a:t>11-03-2026</a:t>
            </a:fld>
            <a:endParaRPr lang="en-IN"/>
          </a:p>
        </p:txBody>
      </p:sp>
      <p:sp>
        <p:nvSpPr>
          <p:cNvPr id="6" name="Footer Placeholder 5"/>
          <p:cNvSpPr>
            <a:spLocks noGrp="1"/>
          </p:cNvSpPr>
          <p:nvPr>
            <p:ph type="ftr" sz="quarter" idx="11"/>
          </p:nvPr>
        </p:nvSpPr>
        <p:spPr/>
        <p:txBody>
          <a:bodyPr/>
          <a:lstStyle/>
          <a:p>
            <a:r>
              <a:rPr lang="en-IN"/>
              <a:t>Department Name </a:t>
            </a:r>
          </a:p>
        </p:txBody>
      </p:sp>
      <p:sp>
        <p:nvSpPr>
          <p:cNvPr id="7" name="Slide Number Placeholder 6"/>
          <p:cNvSpPr>
            <a:spLocks noGrp="1"/>
          </p:cNvSpPr>
          <p:nvPr>
            <p:ph type="sldNum" sz="quarter" idx="12"/>
          </p:nvPr>
        </p:nvSpPr>
        <p:spPr/>
        <p:txBody>
          <a:bodyPr/>
          <a:lstStyle/>
          <a:p>
            <a:fld id="{7F3C451E-D43E-4EBA-A8B7-0A3C29D929DE}" type="slidenum">
              <a:rPr lang="en-IN" smtClean="0"/>
              <a:t>‹#›</a:t>
            </a:fld>
            <a:endParaRPr lang="en-IN"/>
          </a:p>
        </p:txBody>
      </p:sp>
      <p:pic>
        <p:nvPicPr>
          <p:cNvPr id="4098" name="Picture 2">
            <a:extLst>
              <a:ext uri="{FF2B5EF4-FFF2-40B4-BE49-F238E27FC236}">
                <a16:creationId xmlns:a16="http://schemas.microsoft.com/office/drawing/2014/main" id="{87B26F5A-F882-3871-DDD8-16B622FA6B99}"/>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9101" y="26987"/>
            <a:ext cx="2190750" cy="676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50801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9C3265A9-06A4-4A62-8A34-62159277BA8B}" type="datetime1">
              <a:rPr lang="en-IN" smtClean="0"/>
              <a:t>11-03-2026</a:t>
            </a:fld>
            <a:endParaRPr lang="en-IN"/>
          </a:p>
        </p:txBody>
      </p:sp>
      <p:sp>
        <p:nvSpPr>
          <p:cNvPr id="8" name="Footer Placeholder 7"/>
          <p:cNvSpPr>
            <a:spLocks noGrp="1"/>
          </p:cNvSpPr>
          <p:nvPr>
            <p:ph type="ftr" sz="quarter" idx="11"/>
          </p:nvPr>
        </p:nvSpPr>
        <p:spPr/>
        <p:txBody>
          <a:bodyPr/>
          <a:lstStyle/>
          <a:p>
            <a:r>
              <a:rPr lang="en-IN"/>
              <a:t>Department Name </a:t>
            </a:r>
          </a:p>
        </p:txBody>
      </p:sp>
      <p:sp>
        <p:nvSpPr>
          <p:cNvPr id="9" name="Slide Number Placeholder 8"/>
          <p:cNvSpPr>
            <a:spLocks noGrp="1"/>
          </p:cNvSpPr>
          <p:nvPr>
            <p:ph type="sldNum" sz="quarter" idx="12"/>
          </p:nvPr>
        </p:nvSpPr>
        <p:spPr/>
        <p:txBody>
          <a:bodyPr/>
          <a:lstStyle/>
          <a:p>
            <a:fld id="{7F3C451E-D43E-4EBA-A8B7-0A3C29D929DE}" type="slidenum">
              <a:rPr lang="en-IN" smtClean="0"/>
              <a:t>‹#›</a:t>
            </a:fld>
            <a:endParaRPr lang="en-IN"/>
          </a:p>
        </p:txBody>
      </p:sp>
      <p:pic>
        <p:nvPicPr>
          <p:cNvPr id="5122" name="Picture 2">
            <a:extLst>
              <a:ext uri="{FF2B5EF4-FFF2-40B4-BE49-F238E27FC236}">
                <a16:creationId xmlns:a16="http://schemas.microsoft.com/office/drawing/2014/main" id="{BBC9CCE5-D333-2D81-7220-B563BCD9A7C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9050" y="26987"/>
            <a:ext cx="2190750" cy="676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11041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F1683539-592F-4D69-ADFD-8B186908C44A}" type="datetime1">
              <a:rPr lang="en-IN" smtClean="0"/>
              <a:t>11-03-2026</a:t>
            </a:fld>
            <a:endParaRPr lang="en-IN"/>
          </a:p>
        </p:txBody>
      </p:sp>
      <p:sp>
        <p:nvSpPr>
          <p:cNvPr id="4" name="Footer Placeholder 3"/>
          <p:cNvSpPr>
            <a:spLocks noGrp="1"/>
          </p:cNvSpPr>
          <p:nvPr>
            <p:ph type="ftr" sz="quarter" idx="11"/>
          </p:nvPr>
        </p:nvSpPr>
        <p:spPr/>
        <p:txBody>
          <a:bodyPr/>
          <a:lstStyle/>
          <a:p>
            <a:r>
              <a:rPr lang="en-IN"/>
              <a:t>Department Name </a:t>
            </a:r>
          </a:p>
        </p:txBody>
      </p:sp>
      <p:sp>
        <p:nvSpPr>
          <p:cNvPr id="5" name="Slide Number Placeholder 4"/>
          <p:cNvSpPr>
            <a:spLocks noGrp="1"/>
          </p:cNvSpPr>
          <p:nvPr>
            <p:ph type="sldNum" sz="quarter" idx="12"/>
          </p:nvPr>
        </p:nvSpPr>
        <p:spPr/>
        <p:txBody>
          <a:bodyPr/>
          <a:lstStyle/>
          <a:p>
            <a:fld id="{7F3C451E-D43E-4EBA-A8B7-0A3C29D929DE}" type="slidenum">
              <a:rPr lang="en-IN" smtClean="0"/>
              <a:t>‹#›</a:t>
            </a:fld>
            <a:endParaRPr lang="en-IN"/>
          </a:p>
        </p:txBody>
      </p:sp>
      <p:pic>
        <p:nvPicPr>
          <p:cNvPr id="6146" name="Picture 2">
            <a:extLst>
              <a:ext uri="{FF2B5EF4-FFF2-40B4-BE49-F238E27FC236}">
                <a16:creationId xmlns:a16="http://schemas.microsoft.com/office/drawing/2014/main" id="{F3DFDC76-FEFF-33DF-C32F-65D36D3EDC6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9532" y="41856"/>
            <a:ext cx="2190750" cy="676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78736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6A82F17-ECC6-40D2-878A-6EF2A9502164}" type="datetime1">
              <a:rPr lang="en-IN" smtClean="0"/>
              <a:t>11-03-2026</a:t>
            </a:fld>
            <a:endParaRPr lang="en-IN"/>
          </a:p>
        </p:txBody>
      </p:sp>
      <p:sp>
        <p:nvSpPr>
          <p:cNvPr id="3" name="Footer Placeholder 2"/>
          <p:cNvSpPr>
            <a:spLocks noGrp="1"/>
          </p:cNvSpPr>
          <p:nvPr>
            <p:ph type="ftr" sz="quarter" idx="11"/>
          </p:nvPr>
        </p:nvSpPr>
        <p:spPr/>
        <p:txBody>
          <a:bodyPr/>
          <a:lstStyle/>
          <a:p>
            <a:r>
              <a:rPr lang="en-IN"/>
              <a:t>Department Name </a:t>
            </a:r>
          </a:p>
        </p:txBody>
      </p:sp>
      <p:sp>
        <p:nvSpPr>
          <p:cNvPr id="4" name="Slide Number Placeholder 3"/>
          <p:cNvSpPr>
            <a:spLocks noGrp="1"/>
          </p:cNvSpPr>
          <p:nvPr>
            <p:ph type="sldNum" sz="quarter" idx="12"/>
          </p:nvPr>
        </p:nvSpPr>
        <p:spPr/>
        <p:txBody>
          <a:bodyPr/>
          <a:lstStyle/>
          <a:p>
            <a:fld id="{7F3C451E-D43E-4EBA-A8B7-0A3C29D929DE}" type="slidenum">
              <a:rPr lang="en-IN" smtClean="0"/>
              <a:t>‹#›</a:t>
            </a:fld>
            <a:endParaRPr lang="en-IN"/>
          </a:p>
        </p:txBody>
      </p:sp>
      <p:pic>
        <p:nvPicPr>
          <p:cNvPr id="7170" name="Picture 2">
            <a:extLst>
              <a:ext uri="{FF2B5EF4-FFF2-40B4-BE49-F238E27FC236}">
                <a16:creationId xmlns:a16="http://schemas.microsoft.com/office/drawing/2014/main" id="{08CFA828-B3E8-D166-1979-39E43067F2D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9050" y="0"/>
            <a:ext cx="2190750" cy="676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51938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4B15739-28E5-4955-97FB-90D28D7A9775}" type="datetime1">
              <a:rPr lang="en-IN" smtClean="0"/>
              <a:t>11-03-2026</a:t>
            </a:fld>
            <a:endParaRPr lang="en-IN"/>
          </a:p>
        </p:txBody>
      </p:sp>
      <p:sp>
        <p:nvSpPr>
          <p:cNvPr id="6" name="Footer Placeholder 5"/>
          <p:cNvSpPr>
            <a:spLocks noGrp="1"/>
          </p:cNvSpPr>
          <p:nvPr>
            <p:ph type="ftr" sz="quarter" idx="11"/>
          </p:nvPr>
        </p:nvSpPr>
        <p:spPr/>
        <p:txBody>
          <a:bodyPr/>
          <a:lstStyle/>
          <a:p>
            <a:r>
              <a:rPr lang="en-IN"/>
              <a:t>Department Name </a:t>
            </a:r>
          </a:p>
        </p:txBody>
      </p:sp>
      <p:sp>
        <p:nvSpPr>
          <p:cNvPr id="7" name="Slide Number Placeholder 6"/>
          <p:cNvSpPr>
            <a:spLocks noGrp="1"/>
          </p:cNvSpPr>
          <p:nvPr>
            <p:ph type="sldNum" sz="quarter" idx="12"/>
          </p:nvPr>
        </p:nvSpPr>
        <p:spPr/>
        <p:txBody>
          <a:bodyPr/>
          <a:lstStyle/>
          <a:p>
            <a:fld id="{7F3C451E-D43E-4EBA-A8B7-0A3C29D929DE}" type="slidenum">
              <a:rPr lang="en-IN" smtClean="0"/>
              <a:t>‹#›</a:t>
            </a:fld>
            <a:endParaRPr lang="en-IN"/>
          </a:p>
        </p:txBody>
      </p:sp>
      <p:pic>
        <p:nvPicPr>
          <p:cNvPr id="8194" name="Picture 2">
            <a:extLst>
              <a:ext uri="{FF2B5EF4-FFF2-40B4-BE49-F238E27FC236}">
                <a16:creationId xmlns:a16="http://schemas.microsoft.com/office/drawing/2014/main" id="{A134B931-38BE-305F-83DE-0D31C7E8AD0C}"/>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9050" y="49593"/>
            <a:ext cx="2190750" cy="676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92897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732AD84-31E9-40F1-8941-D665008C99DB}" type="datetime1">
              <a:rPr lang="en-IN" smtClean="0"/>
              <a:t>11-03-2026</a:t>
            </a:fld>
            <a:endParaRPr lang="en-IN"/>
          </a:p>
        </p:txBody>
      </p:sp>
      <p:sp>
        <p:nvSpPr>
          <p:cNvPr id="6" name="Footer Placeholder 5"/>
          <p:cNvSpPr>
            <a:spLocks noGrp="1"/>
          </p:cNvSpPr>
          <p:nvPr>
            <p:ph type="ftr" sz="quarter" idx="11"/>
          </p:nvPr>
        </p:nvSpPr>
        <p:spPr/>
        <p:txBody>
          <a:bodyPr/>
          <a:lstStyle/>
          <a:p>
            <a:r>
              <a:rPr lang="en-IN"/>
              <a:t>Department Name </a:t>
            </a:r>
          </a:p>
        </p:txBody>
      </p:sp>
      <p:sp>
        <p:nvSpPr>
          <p:cNvPr id="7" name="Slide Number Placeholder 6"/>
          <p:cNvSpPr>
            <a:spLocks noGrp="1"/>
          </p:cNvSpPr>
          <p:nvPr>
            <p:ph type="sldNum" sz="quarter" idx="12"/>
          </p:nvPr>
        </p:nvSpPr>
        <p:spPr/>
        <p:txBody>
          <a:bodyPr/>
          <a:lstStyle/>
          <a:p>
            <a:fld id="{7F3C451E-D43E-4EBA-A8B7-0A3C29D929DE}" type="slidenum">
              <a:rPr lang="en-IN" smtClean="0"/>
              <a:t>‹#›</a:t>
            </a:fld>
            <a:endParaRPr lang="en-IN"/>
          </a:p>
        </p:txBody>
      </p:sp>
    </p:spTree>
    <p:extLst>
      <p:ext uri="{BB962C8B-B14F-4D97-AF65-F5344CB8AC3E}">
        <p14:creationId xmlns:p14="http://schemas.microsoft.com/office/powerpoint/2010/main" val="21153019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0DEA718A-531D-4B20-B72A-6FE5B8EF553C}" type="datetime1">
              <a:rPr lang="en-IN" smtClean="0"/>
              <a:t>11-03-2026</a:t>
            </a:fld>
            <a:endParaRPr lang="en-IN"/>
          </a:p>
        </p:txBody>
      </p:sp>
      <p:sp>
        <p:nvSpPr>
          <p:cNvPr id="5" name="Footer Placeholder 4"/>
          <p:cNvSpPr>
            <a:spLocks noGrp="1"/>
          </p:cNvSpPr>
          <p:nvPr>
            <p:ph type="ftr" sz="quarter" idx="11"/>
          </p:nvPr>
        </p:nvSpPr>
        <p:spPr/>
        <p:txBody>
          <a:bodyPr/>
          <a:lstStyle/>
          <a:p>
            <a:r>
              <a:rPr lang="en-IN"/>
              <a:t>Department Name </a:t>
            </a:r>
          </a:p>
        </p:txBody>
      </p:sp>
      <p:sp>
        <p:nvSpPr>
          <p:cNvPr id="6" name="Slide Number Placeholder 5"/>
          <p:cNvSpPr>
            <a:spLocks noGrp="1"/>
          </p:cNvSpPr>
          <p:nvPr>
            <p:ph type="sldNum" sz="quarter" idx="12"/>
          </p:nvPr>
        </p:nvSpPr>
        <p:spPr/>
        <p:txBody>
          <a:bodyPr/>
          <a:lstStyle/>
          <a:p>
            <a:fld id="{7F3C451E-D43E-4EBA-A8B7-0A3C29D929DE}" type="slidenum">
              <a:rPr lang="en-IN" smtClean="0"/>
              <a:t>‹#›</a:t>
            </a:fld>
            <a:endParaRPr lang="en-IN"/>
          </a:p>
        </p:txBody>
      </p:sp>
    </p:spTree>
    <p:extLst>
      <p:ext uri="{BB962C8B-B14F-4D97-AF65-F5344CB8AC3E}">
        <p14:creationId xmlns:p14="http://schemas.microsoft.com/office/powerpoint/2010/main" val="31403586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8488E60-F2CE-4BE4-9406-79E2330E5046}" type="datetime1">
              <a:rPr lang="en-IN" smtClean="0"/>
              <a:t>11-03-2026</a:t>
            </a:fld>
            <a:endParaRPr lang="en-IN"/>
          </a:p>
        </p:txBody>
      </p:sp>
      <p:sp>
        <p:nvSpPr>
          <p:cNvPr id="5" name="Footer Placeholder 4"/>
          <p:cNvSpPr>
            <a:spLocks noGrp="1"/>
          </p:cNvSpPr>
          <p:nvPr>
            <p:ph type="ftr" sz="quarter" idx="11"/>
          </p:nvPr>
        </p:nvSpPr>
        <p:spPr/>
        <p:txBody>
          <a:bodyPr/>
          <a:lstStyle/>
          <a:p>
            <a:r>
              <a:rPr lang="en-IN"/>
              <a:t>Department Name </a:t>
            </a:r>
          </a:p>
        </p:txBody>
      </p:sp>
      <p:sp>
        <p:nvSpPr>
          <p:cNvPr id="6" name="Slide Number Placeholder 5"/>
          <p:cNvSpPr>
            <a:spLocks noGrp="1"/>
          </p:cNvSpPr>
          <p:nvPr>
            <p:ph type="sldNum" sz="quarter" idx="12"/>
          </p:nvPr>
        </p:nvSpPr>
        <p:spPr/>
        <p:txBody>
          <a:bodyPr/>
          <a:lstStyle/>
          <a:p>
            <a:fld id="{7F3C451E-D43E-4EBA-A8B7-0A3C29D929DE}" type="slidenum">
              <a:rPr lang="en-IN" smtClean="0"/>
              <a:t>‹#›</a:t>
            </a:fld>
            <a:endParaRPr lang="en-IN"/>
          </a:p>
        </p:txBody>
      </p:sp>
    </p:spTree>
    <p:extLst>
      <p:ext uri="{BB962C8B-B14F-4D97-AF65-F5344CB8AC3E}">
        <p14:creationId xmlns:p14="http://schemas.microsoft.com/office/powerpoint/2010/main" val="21252006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C8A643-BBB0-4F3F-9B94-D9CBFB2BFC9F}" type="datetime1">
              <a:rPr lang="en-IN" smtClean="0"/>
              <a:t>11-03-2026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Department Name </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3C451E-D43E-4EBA-A8B7-0A3C29D929DE}" type="slidenum">
              <a:rPr lang="en-IN" smtClean="0"/>
              <a:t>‹#›</a:t>
            </a:fld>
            <a:endParaRPr lang="en-IN"/>
          </a:p>
        </p:txBody>
      </p:sp>
    </p:spTree>
    <p:extLst>
      <p:ext uri="{BB962C8B-B14F-4D97-AF65-F5344CB8AC3E}">
        <p14:creationId xmlns:p14="http://schemas.microsoft.com/office/powerpoint/2010/main" val="2720541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archive.ics.uci.edu/" TargetMode="External"/><Relationship Id="rId2" Type="http://schemas.openxmlformats.org/officeDocument/2006/relationships/hyperlink" Target="https://www.who.int/" TargetMode="External"/><Relationship Id="rId1" Type="http://schemas.openxmlformats.org/officeDocument/2006/relationships/slideLayout" Target="../slideLayouts/slideLayout2.xml"/><Relationship Id="rId4" Type="http://schemas.openxmlformats.org/officeDocument/2006/relationships/hyperlink" Target="https://scikit-learn.org/"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765300"/>
            <a:ext cx="9144000" cy="1538288"/>
          </a:xfrm>
        </p:spPr>
        <p:txBody>
          <a:bodyPr>
            <a:normAutofit/>
          </a:bodyPr>
          <a:lstStyle/>
          <a:p>
            <a:r>
              <a:rPr lang="en-US" sz="4000" dirty="0"/>
              <a:t>Semester Training Report Presentation on</a:t>
            </a:r>
            <a:br>
              <a:rPr lang="en-US" sz="4000" dirty="0"/>
            </a:br>
            <a:r>
              <a:rPr lang="en-US" sz="4000" dirty="0" smtClean="0"/>
              <a:t>“</a:t>
            </a:r>
            <a:r>
              <a:rPr lang="en-US" sz="4000" dirty="0" err="1" smtClean="0"/>
              <a:t>CardioVascular</a:t>
            </a:r>
            <a:r>
              <a:rPr lang="en-US" sz="4000" dirty="0" smtClean="0"/>
              <a:t> Disease Prediction</a:t>
            </a:r>
            <a:r>
              <a:rPr lang="en-US" sz="4000" dirty="0" smtClean="0"/>
              <a:t>”</a:t>
            </a:r>
            <a:endParaRPr lang="en-IN" sz="4000" dirty="0"/>
          </a:p>
        </p:txBody>
      </p:sp>
      <p:sp>
        <p:nvSpPr>
          <p:cNvPr id="3" name="Subtitle 2"/>
          <p:cNvSpPr>
            <a:spLocks noGrp="1"/>
          </p:cNvSpPr>
          <p:nvPr>
            <p:ph type="subTitle" idx="1"/>
          </p:nvPr>
        </p:nvSpPr>
        <p:spPr>
          <a:xfrm>
            <a:off x="1524000" y="4122738"/>
            <a:ext cx="9144000" cy="1414462"/>
          </a:xfrm>
        </p:spPr>
        <p:txBody>
          <a:bodyPr>
            <a:normAutofit fontScale="85000" lnSpcReduction="20000"/>
          </a:bodyPr>
          <a:lstStyle/>
          <a:p>
            <a:pPr algn="l"/>
            <a:r>
              <a:rPr lang="en-US" dirty="0" smtClean="0"/>
              <a:t>Submitted To:                                                                                      Submitted By:</a:t>
            </a:r>
          </a:p>
          <a:p>
            <a:pPr algn="l"/>
            <a:r>
              <a:rPr lang="en-US" dirty="0" smtClean="0"/>
              <a:t>Dr. Pradeep </a:t>
            </a:r>
            <a:r>
              <a:rPr lang="en-US" dirty="0" err="1" smtClean="0"/>
              <a:t>Tiwana</a:t>
            </a:r>
            <a:r>
              <a:rPr lang="en-US" dirty="0" smtClean="0"/>
              <a:t>                                                                            </a:t>
            </a:r>
            <a:r>
              <a:rPr lang="en-US" dirty="0" err="1" smtClean="0"/>
              <a:t>Akshit</a:t>
            </a:r>
            <a:r>
              <a:rPr lang="en-US" dirty="0" smtClean="0"/>
              <a:t> </a:t>
            </a:r>
            <a:r>
              <a:rPr lang="en-US" dirty="0" err="1" smtClean="0"/>
              <a:t>Goel</a:t>
            </a:r>
            <a:endParaRPr lang="en-US" dirty="0" smtClean="0"/>
          </a:p>
          <a:p>
            <a:pPr algn="l"/>
            <a:r>
              <a:rPr lang="en-US" dirty="0" smtClean="0"/>
              <a:t>Mr. </a:t>
            </a:r>
            <a:r>
              <a:rPr lang="en-US" dirty="0" err="1" smtClean="0"/>
              <a:t>Jagbir</a:t>
            </a:r>
            <a:r>
              <a:rPr lang="en-US" dirty="0" smtClean="0"/>
              <a:t> Singh Gill                                                                            Roll No: 2220845</a:t>
            </a:r>
            <a:r>
              <a:rPr lang="en-US" dirty="0"/>
              <a:t>			</a:t>
            </a:r>
            <a:br>
              <a:rPr lang="en-US" dirty="0"/>
            </a:br>
            <a:endParaRPr lang="en-IN" dirty="0"/>
          </a:p>
        </p:txBody>
      </p:sp>
      <p:sp>
        <p:nvSpPr>
          <p:cNvPr id="4" name="Slide Number Placeholder 3"/>
          <p:cNvSpPr>
            <a:spLocks noGrp="1"/>
          </p:cNvSpPr>
          <p:nvPr>
            <p:ph type="sldNum" sz="quarter" idx="12"/>
          </p:nvPr>
        </p:nvSpPr>
        <p:spPr/>
        <p:txBody>
          <a:bodyPr/>
          <a:lstStyle/>
          <a:p>
            <a:fld id="{7F3C451E-D43E-4EBA-A8B7-0A3C29D929DE}" type="slidenum">
              <a:rPr lang="en-IN" smtClean="0"/>
              <a:t>1</a:t>
            </a:fld>
            <a:endParaRPr lang="en-IN"/>
          </a:p>
        </p:txBody>
      </p:sp>
      <p:sp>
        <p:nvSpPr>
          <p:cNvPr id="5" name="Footer Placeholder 4"/>
          <p:cNvSpPr>
            <a:spLocks noGrp="1"/>
          </p:cNvSpPr>
          <p:nvPr>
            <p:ph type="ftr" sz="quarter" idx="11"/>
          </p:nvPr>
        </p:nvSpPr>
        <p:spPr/>
        <p:txBody>
          <a:bodyPr/>
          <a:lstStyle/>
          <a:p>
            <a:r>
              <a:rPr lang="en-IN"/>
              <a:t>Department Name </a:t>
            </a:r>
            <a:endParaRPr lang="en-IN" dirty="0"/>
          </a:p>
        </p:txBody>
      </p:sp>
    </p:spTree>
    <p:extLst>
      <p:ext uri="{BB962C8B-B14F-4D97-AF65-F5344CB8AC3E}">
        <p14:creationId xmlns:p14="http://schemas.microsoft.com/office/powerpoint/2010/main" val="9272897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763"/>
            <a:ext cx="10515600" cy="1325563"/>
          </a:xfrm>
        </p:spPr>
        <p:txBody>
          <a:bodyPr/>
          <a:lstStyle/>
          <a:p>
            <a:pPr algn="ctr"/>
            <a:r>
              <a:rPr lang="en-US" sz="3200" b="1" dirty="0">
                <a:latin typeface="+mn-lt"/>
              </a:rPr>
              <a:t>Abstract</a:t>
            </a:r>
            <a:endParaRPr lang="en-IN" sz="3200" b="1" dirty="0">
              <a:latin typeface="+mn-lt"/>
            </a:endParaRPr>
          </a:p>
        </p:txBody>
      </p:sp>
      <p:sp>
        <p:nvSpPr>
          <p:cNvPr id="3" name="Content Placeholder 2"/>
          <p:cNvSpPr>
            <a:spLocks noGrp="1"/>
          </p:cNvSpPr>
          <p:nvPr>
            <p:ph idx="1"/>
          </p:nvPr>
        </p:nvSpPr>
        <p:spPr>
          <a:xfrm>
            <a:off x="838200" y="1549400"/>
            <a:ext cx="10515600" cy="4627563"/>
          </a:xfrm>
        </p:spPr>
        <p:txBody>
          <a:bodyPr/>
          <a:lstStyle/>
          <a:p>
            <a:r>
              <a:rPr lang="en-US" sz="2000" dirty="0"/>
              <a:t>Cardiovascular Disease (CVD) is one of the leading causes of death worldwide, making early detection and prevention extremely important. This project focuses on developing a </a:t>
            </a:r>
            <a:r>
              <a:rPr lang="en-US" sz="2000" b="1" dirty="0"/>
              <a:t>machine learning-based predictive system</a:t>
            </a:r>
            <a:r>
              <a:rPr lang="en-US" sz="2000" dirty="0"/>
              <a:t> that can identify individuals who are at risk of cardiovascular disease using medical data. The system analyzes patient health records containing attributes such as age, blood pressure, cholesterol level, medical history, and other clinical measurements.</a:t>
            </a:r>
          </a:p>
          <a:p>
            <a:r>
              <a:rPr lang="en-US" sz="2000" dirty="0"/>
              <a:t>The project applies </a:t>
            </a:r>
            <a:r>
              <a:rPr lang="en-US" sz="2000" b="1" dirty="0"/>
              <a:t>machine learning algorithms such as Decision Tree, Random Forest, Support Vector Machine, and Neural Networks</a:t>
            </a:r>
            <a:r>
              <a:rPr lang="en-US" sz="2000" dirty="0"/>
              <a:t> to identify patterns associated with cardiovascular disease. Data preprocessing techniques such as handling missing values, outlier detection, and feature selection are used to improve the accuracy of the predictive model. The performance of the models is evaluated using metrics such as </a:t>
            </a:r>
            <a:r>
              <a:rPr lang="en-US" sz="2000" b="1" dirty="0"/>
              <a:t>accuracy, precision, recall, F1-score, and ROC-AUC</a:t>
            </a:r>
            <a:r>
              <a:rPr lang="en-US" sz="2000" dirty="0"/>
              <a:t>.</a:t>
            </a:r>
          </a:p>
          <a:p>
            <a:r>
              <a:rPr lang="en-US" sz="2000" dirty="0"/>
              <a:t>The developed system can assist healthcare professionals in identifying high-risk patients at an early stage, enabling timely treatment and improving patient outcomes.</a:t>
            </a:r>
          </a:p>
          <a:p>
            <a:pPr marL="0" indent="0">
              <a:buNone/>
            </a:pPr>
            <a:r>
              <a:rPr lang="en-US" sz="2000" dirty="0" smtClean="0"/>
              <a:t> </a:t>
            </a:r>
            <a:endParaRPr lang="en-US" sz="2000" dirty="0"/>
          </a:p>
          <a:p>
            <a:endParaRPr lang="en-IN" dirty="0"/>
          </a:p>
        </p:txBody>
      </p:sp>
      <p:sp>
        <p:nvSpPr>
          <p:cNvPr id="4" name="Slide Number Placeholder 3"/>
          <p:cNvSpPr>
            <a:spLocks noGrp="1"/>
          </p:cNvSpPr>
          <p:nvPr>
            <p:ph type="sldNum" sz="quarter" idx="12"/>
          </p:nvPr>
        </p:nvSpPr>
        <p:spPr/>
        <p:txBody>
          <a:bodyPr/>
          <a:lstStyle/>
          <a:p>
            <a:fld id="{7F3C451E-D43E-4EBA-A8B7-0A3C29D929DE}" type="slidenum">
              <a:rPr lang="en-IN" smtClean="0"/>
              <a:t>2</a:t>
            </a:fld>
            <a:endParaRPr lang="en-IN"/>
          </a:p>
        </p:txBody>
      </p:sp>
      <p:sp>
        <p:nvSpPr>
          <p:cNvPr id="5" name="Footer Placeholder 4"/>
          <p:cNvSpPr>
            <a:spLocks noGrp="1"/>
          </p:cNvSpPr>
          <p:nvPr>
            <p:ph type="ftr" sz="quarter" idx="11"/>
          </p:nvPr>
        </p:nvSpPr>
        <p:spPr/>
        <p:txBody>
          <a:bodyPr/>
          <a:lstStyle/>
          <a:p>
            <a:r>
              <a:rPr lang="en-IN"/>
              <a:t>Department Name </a:t>
            </a:r>
          </a:p>
        </p:txBody>
      </p:sp>
    </p:spTree>
    <p:extLst>
      <p:ext uri="{BB962C8B-B14F-4D97-AF65-F5344CB8AC3E}">
        <p14:creationId xmlns:p14="http://schemas.microsoft.com/office/powerpoint/2010/main" val="1838231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763"/>
            <a:ext cx="10515600" cy="1325563"/>
          </a:xfrm>
        </p:spPr>
        <p:txBody>
          <a:bodyPr/>
          <a:lstStyle/>
          <a:p>
            <a:pPr algn="ctr"/>
            <a:r>
              <a:rPr lang="en-US" sz="3200" b="1" dirty="0">
                <a:latin typeface="+mn-lt"/>
              </a:rPr>
              <a:t>Introduction</a:t>
            </a:r>
            <a:endParaRPr lang="en-IN" sz="3200" b="1" dirty="0">
              <a:latin typeface="+mn-lt"/>
            </a:endParaRPr>
          </a:p>
        </p:txBody>
      </p:sp>
      <p:sp>
        <p:nvSpPr>
          <p:cNvPr id="3" name="Content Placeholder 2"/>
          <p:cNvSpPr>
            <a:spLocks noGrp="1"/>
          </p:cNvSpPr>
          <p:nvPr>
            <p:ph idx="1"/>
          </p:nvPr>
        </p:nvSpPr>
        <p:spPr>
          <a:xfrm>
            <a:off x="838200" y="1549400"/>
            <a:ext cx="10515600" cy="4627563"/>
          </a:xfrm>
        </p:spPr>
        <p:txBody>
          <a:bodyPr/>
          <a:lstStyle/>
          <a:p>
            <a:pPr marL="0" indent="0">
              <a:buNone/>
            </a:pPr>
            <a:r>
              <a:rPr lang="en-US" sz="2000" dirty="0"/>
              <a:t>• </a:t>
            </a:r>
            <a:r>
              <a:rPr lang="en-US" sz="2000" b="1" dirty="0"/>
              <a:t>Cardiovascular Disease (CVD)</a:t>
            </a:r>
            <a:r>
              <a:rPr lang="en-US" sz="2000" dirty="0"/>
              <a:t> is one of the leading causes of death worldwide, causing millions of deaths every year.</a:t>
            </a:r>
          </a:p>
          <a:p>
            <a:pPr marL="0" indent="0">
              <a:buNone/>
            </a:pPr>
            <a:r>
              <a:rPr lang="en-US" sz="2000" dirty="0"/>
              <a:t>• Early prediction of CVD is important for </a:t>
            </a:r>
            <a:r>
              <a:rPr lang="en-US" sz="2000" b="1" dirty="0"/>
              <a:t>timely diagnosis, prevention, and effective treatment</a:t>
            </a:r>
            <a:r>
              <a:rPr lang="en-US" sz="2000" dirty="0"/>
              <a:t>.</a:t>
            </a:r>
          </a:p>
          <a:p>
            <a:pPr marL="0" indent="0">
              <a:buNone/>
            </a:pPr>
            <a:r>
              <a:rPr lang="en-US" sz="2000" dirty="0"/>
              <a:t>• Traditional methods rely on manual analysis of medical data, which may be </a:t>
            </a:r>
            <a:r>
              <a:rPr lang="en-US" sz="2000" b="1" dirty="0"/>
              <a:t>time-consuming and less accurate</a:t>
            </a:r>
            <a:r>
              <a:rPr lang="en-US" sz="2000" dirty="0"/>
              <a:t>.</a:t>
            </a:r>
          </a:p>
          <a:p>
            <a:pPr marL="0" indent="0">
              <a:buNone/>
            </a:pPr>
            <a:r>
              <a:rPr lang="en-US" sz="2000" dirty="0"/>
              <a:t>• </a:t>
            </a:r>
            <a:r>
              <a:rPr lang="en-US" sz="2000" b="1" dirty="0"/>
              <a:t>Machine learning and data science techniques</a:t>
            </a:r>
            <a:r>
              <a:rPr lang="en-US" sz="2000" dirty="0"/>
              <a:t> can analyze large healthcare datasets and identify hidden patterns.</a:t>
            </a:r>
          </a:p>
          <a:p>
            <a:pPr marL="0" indent="0">
              <a:buNone/>
            </a:pPr>
            <a:r>
              <a:rPr lang="en-US" sz="2000" dirty="0"/>
              <a:t>• This project aims to develop a </a:t>
            </a:r>
            <a:r>
              <a:rPr lang="en-US" sz="2000" b="1" dirty="0"/>
              <a:t>predictive model</a:t>
            </a:r>
            <a:r>
              <a:rPr lang="en-US" sz="2000" dirty="0"/>
              <a:t> that analyzes patient health data to determine the risk of cardiovascular disease.</a:t>
            </a:r>
          </a:p>
          <a:p>
            <a:pPr marL="0" indent="0">
              <a:buNone/>
            </a:pPr>
            <a:r>
              <a:rPr lang="en-US" sz="2000" dirty="0"/>
              <a:t>• The system helps healthcare professionals </a:t>
            </a:r>
            <a:r>
              <a:rPr lang="en-US" sz="2000" b="1" dirty="0"/>
              <a:t>identify high-risk patients and support better medical decision making</a:t>
            </a:r>
            <a:r>
              <a:rPr lang="en-US" sz="2000" dirty="0"/>
              <a:t>.</a:t>
            </a:r>
          </a:p>
          <a:p>
            <a:pPr marL="0" indent="0">
              <a:buNone/>
            </a:pPr>
            <a:r>
              <a:rPr lang="en-US" sz="2000" dirty="0" smtClean="0"/>
              <a:t> </a:t>
            </a:r>
            <a:endParaRPr lang="en-US" sz="2000" dirty="0"/>
          </a:p>
          <a:p>
            <a:endParaRPr lang="en-IN" dirty="0"/>
          </a:p>
        </p:txBody>
      </p:sp>
      <p:sp>
        <p:nvSpPr>
          <p:cNvPr id="4" name="Slide Number Placeholder 3"/>
          <p:cNvSpPr>
            <a:spLocks noGrp="1"/>
          </p:cNvSpPr>
          <p:nvPr>
            <p:ph type="sldNum" sz="quarter" idx="12"/>
          </p:nvPr>
        </p:nvSpPr>
        <p:spPr/>
        <p:txBody>
          <a:bodyPr/>
          <a:lstStyle/>
          <a:p>
            <a:fld id="{7F3C451E-D43E-4EBA-A8B7-0A3C29D929DE}" type="slidenum">
              <a:rPr lang="en-IN" smtClean="0"/>
              <a:t>3</a:t>
            </a:fld>
            <a:endParaRPr lang="en-IN"/>
          </a:p>
        </p:txBody>
      </p:sp>
      <p:sp>
        <p:nvSpPr>
          <p:cNvPr id="5" name="Footer Placeholder 4"/>
          <p:cNvSpPr>
            <a:spLocks noGrp="1"/>
          </p:cNvSpPr>
          <p:nvPr>
            <p:ph type="ftr" sz="quarter" idx="11"/>
          </p:nvPr>
        </p:nvSpPr>
        <p:spPr/>
        <p:txBody>
          <a:bodyPr/>
          <a:lstStyle/>
          <a:p>
            <a:r>
              <a:rPr lang="en-IN"/>
              <a:t>Department Name </a:t>
            </a:r>
          </a:p>
        </p:txBody>
      </p:sp>
    </p:spTree>
    <p:extLst>
      <p:ext uri="{BB962C8B-B14F-4D97-AF65-F5344CB8AC3E}">
        <p14:creationId xmlns:p14="http://schemas.microsoft.com/office/powerpoint/2010/main" val="6191642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763"/>
            <a:ext cx="10515600" cy="1325563"/>
          </a:xfrm>
        </p:spPr>
        <p:txBody>
          <a:bodyPr/>
          <a:lstStyle/>
          <a:p>
            <a:pPr algn="ctr"/>
            <a:r>
              <a:rPr lang="en-US" sz="3200" b="1" dirty="0">
                <a:latin typeface="+mn-lt"/>
              </a:rPr>
              <a:t>Objectives of Project</a:t>
            </a:r>
            <a:endParaRPr lang="en-IN" sz="3200" b="1" dirty="0">
              <a:latin typeface="+mn-lt"/>
            </a:endParaRPr>
          </a:p>
        </p:txBody>
      </p:sp>
      <p:sp>
        <p:nvSpPr>
          <p:cNvPr id="3" name="Content Placeholder 2"/>
          <p:cNvSpPr>
            <a:spLocks noGrp="1"/>
          </p:cNvSpPr>
          <p:nvPr>
            <p:ph idx="1"/>
          </p:nvPr>
        </p:nvSpPr>
        <p:spPr>
          <a:xfrm>
            <a:off x="838200" y="1549400"/>
            <a:ext cx="10515600" cy="4627563"/>
          </a:xfrm>
        </p:spPr>
        <p:txBody>
          <a:bodyPr/>
          <a:lstStyle/>
          <a:p>
            <a:pPr marL="0" indent="0">
              <a:buNone/>
            </a:pPr>
            <a:r>
              <a:rPr lang="en-US" sz="2000" dirty="0"/>
              <a:t>• To develop a </a:t>
            </a:r>
            <a:r>
              <a:rPr lang="en-US" sz="2000" b="1" dirty="0"/>
              <a:t>machine learning model</a:t>
            </a:r>
            <a:r>
              <a:rPr lang="en-US" sz="2000" dirty="0"/>
              <a:t> that predicts the risk of cardiovascular disease using patient medical data.</a:t>
            </a:r>
          </a:p>
          <a:p>
            <a:pPr marL="0" indent="0">
              <a:buNone/>
            </a:pPr>
            <a:r>
              <a:rPr lang="en-US" sz="2000" dirty="0"/>
              <a:t>• To </a:t>
            </a:r>
            <a:r>
              <a:rPr lang="en-US" sz="2000" b="1" dirty="0"/>
              <a:t>collect and preprocess healthcare datasets</a:t>
            </a:r>
            <a:r>
              <a:rPr lang="en-US" sz="2000" dirty="0"/>
              <a:t> by handling missing values, outliers, and normalization.</a:t>
            </a:r>
          </a:p>
          <a:p>
            <a:pPr marL="0" indent="0">
              <a:buNone/>
            </a:pPr>
            <a:r>
              <a:rPr lang="en-US" sz="2000" dirty="0"/>
              <a:t>• To identify important </a:t>
            </a:r>
            <a:r>
              <a:rPr lang="en-US" sz="2000" b="1" dirty="0"/>
              <a:t>risk factors such as age, blood pressure, cholesterol, and medical history</a:t>
            </a:r>
            <a:r>
              <a:rPr lang="en-US" sz="2000" dirty="0"/>
              <a:t> affecting cardiovascular disease.</a:t>
            </a:r>
          </a:p>
          <a:p>
            <a:pPr marL="0" indent="0">
              <a:buNone/>
            </a:pPr>
            <a:r>
              <a:rPr lang="en-US" sz="2000" dirty="0"/>
              <a:t>• To implement and compare </a:t>
            </a:r>
            <a:r>
              <a:rPr lang="en-US" sz="2000" b="1" dirty="0"/>
              <a:t>different machine learning algorithms</a:t>
            </a:r>
            <a:r>
              <a:rPr lang="en-US" sz="2000" dirty="0"/>
              <a:t> such as Decision Tree, Random Forest, SVM, and Neural Networks.</a:t>
            </a:r>
          </a:p>
          <a:p>
            <a:pPr marL="0" indent="0">
              <a:buNone/>
            </a:pPr>
            <a:r>
              <a:rPr lang="en-US" sz="2000" dirty="0"/>
              <a:t>• To evaluate model performance using </a:t>
            </a:r>
            <a:r>
              <a:rPr lang="en-US" sz="2000" b="1" dirty="0"/>
              <a:t>accuracy, precision, recall, and F1-score</a:t>
            </a:r>
            <a:r>
              <a:rPr lang="en-US" sz="2000" dirty="0" smtClean="0"/>
              <a:t>.</a:t>
            </a:r>
          </a:p>
          <a:p>
            <a:pPr marL="0" indent="0">
              <a:buNone/>
            </a:pPr>
            <a:r>
              <a:rPr lang="en-US" sz="2000" dirty="0" smtClean="0"/>
              <a:t>• </a:t>
            </a:r>
            <a:r>
              <a:rPr lang="en-US" sz="2000" dirty="0"/>
              <a:t>To assist healthcare professionals in </a:t>
            </a:r>
            <a:r>
              <a:rPr lang="en-US" sz="2000" b="1" dirty="0"/>
              <a:t>early detection and prevention of cardiovascular disease</a:t>
            </a:r>
            <a:r>
              <a:rPr lang="en-US" sz="2000" dirty="0"/>
              <a:t>.</a:t>
            </a:r>
          </a:p>
          <a:p>
            <a:pPr marL="0" indent="0">
              <a:buNone/>
            </a:pPr>
            <a:endParaRPr lang="en-US" sz="2000" dirty="0"/>
          </a:p>
        </p:txBody>
      </p:sp>
      <p:sp>
        <p:nvSpPr>
          <p:cNvPr id="4" name="Slide Number Placeholder 3"/>
          <p:cNvSpPr>
            <a:spLocks noGrp="1"/>
          </p:cNvSpPr>
          <p:nvPr>
            <p:ph type="sldNum" sz="quarter" idx="12"/>
          </p:nvPr>
        </p:nvSpPr>
        <p:spPr/>
        <p:txBody>
          <a:bodyPr/>
          <a:lstStyle/>
          <a:p>
            <a:fld id="{7F3C451E-D43E-4EBA-A8B7-0A3C29D929DE}" type="slidenum">
              <a:rPr lang="en-IN" smtClean="0"/>
              <a:t>4</a:t>
            </a:fld>
            <a:endParaRPr lang="en-IN"/>
          </a:p>
        </p:txBody>
      </p:sp>
      <p:sp>
        <p:nvSpPr>
          <p:cNvPr id="5" name="Footer Placeholder 4"/>
          <p:cNvSpPr>
            <a:spLocks noGrp="1"/>
          </p:cNvSpPr>
          <p:nvPr>
            <p:ph type="ftr" sz="quarter" idx="11"/>
          </p:nvPr>
        </p:nvSpPr>
        <p:spPr/>
        <p:txBody>
          <a:bodyPr/>
          <a:lstStyle/>
          <a:p>
            <a:r>
              <a:rPr lang="en-IN"/>
              <a:t>Department Name </a:t>
            </a:r>
          </a:p>
        </p:txBody>
      </p:sp>
    </p:spTree>
    <p:extLst>
      <p:ext uri="{BB962C8B-B14F-4D97-AF65-F5344CB8AC3E}">
        <p14:creationId xmlns:p14="http://schemas.microsoft.com/office/powerpoint/2010/main" val="11443775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763"/>
            <a:ext cx="10515600" cy="1325563"/>
          </a:xfrm>
        </p:spPr>
        <p:txBody>
          <a:bodyPr/>
          <a:lstStyle/>
          <a:p>
            <a:pPr algn="ctr"/>
            <a:r>
              <a:rPr lang="en-US" sz="3200" b="1" dirty="0">
                <a:latin typeface="+mn-lt"/>
              </a:rPr>
              <a:t>Methodology</a:t>
            </a:r>
            <a:endParaRPr lang="en-IN" sz="3200" b="1" dirty="0">
              <a:latin typeface="+mn-lt"/>
            </a:endParaRPr>
          </a:p>
        </p:txBody>
      </p:sp>
      <p:sp>
        <p:nvSpPr>
          <p:cNvPr id="3" name="Content Placeholder 2"/>
          <p:cNvSpPr>
            <a:spLocks noGrp="1"/>
          </p:cNvSpPr>
          <p:nvPr>
            <p:ph idx="1"/>
          </p:nvPr>
        </p:nvSpPr>
        <p:spPr>
          <a:xfrm>
            <a:off x="838200" y="1549400"/>
            <a:ext cx="10515600" cy="4627563"/>
          </a:xfrm>
        </p:spPr>
        <p:txBody>
          <a:bodyPr/>
          <a:lstStyle/>
          <a:p>
            <a:pPr marL="0" indent="0">
              <a:buNone/>
            </a:pPr>
            <a:r>
              <a:rPr lang="en-US" sz="2000" dirty="0"/>
              <a:t>• </a:t>
            </a:r>
            <a:r>
              <a:rPr lang="en-US" sz="2000" b="1" dirty="0"/>
              <a:t>Data Collection</a:t>
            </a:r>
            <a:r>
              <a:rPr lang="en-US" sz="2000" dirty="0"/>
              <a:t> – Collect patient health records from the cardiovascular disease dataset containing medical attributes.</a:t>
            </a:r>
          </a:p>
          <a:p>
            <a:pPr marL="0" indent="0">
              <a:buNone/>
            </a:pPr>
            <a:r>
              <a:rPr lang="en-US" sz="2000" dirty="0"/>
              <a:t>• </a:t>
            </a:r>
            <a:r>
              <a:rPr lang="en-US" sz="2000" b="1" dirty="0"/>
              <a:t>Data Preprocessing</a:t>
            </a:r>
            <a:r>
              <a:rPr lang="en-US" sz="2000" dirty="0"/>
              <a:t> – Handle missing values, normalize data, and perform feature scaling to prepare the dataset.</a:t>
            </a:r>
          </a:p>
          <a:p>
            <a:pPr marL="0" indent="0">
              <a:buNone/>
            </a:pPr>
            <a:r>
              <a:rPr lang="en-US" sz="2000" dirty="0"/>
              <a:t>• </a:t>
            </a:r>
            <a:r>
              <a:rPr lang="en-US" sz="2000" b="1" dirty="0"/>
              <a:t>Feature Extraction</a:t>
            </a:r>
            <a:r>
              <a:rPr lang="en-US" sz="2000" dirty="0"/>
              <a:t> – Identify important features related to cardiovascular disease using correlation analysis and feature selection.</a:t>
            </a:r>
          </a:p>
          <a:p>
            <a:pPr marL="0" indent="0">
              <a:buNone/>
            </a:pPr>
            <a:r>
              <a:rPr lang="en-US" sz="2000" dirty="0"/>
              <a:t>• </a:t>
            </a:r>
            <a:r>
              <a:rPr lang="en-US" sz="2000" b="1" dirty="0"/>
              <a:t>Model Development</a:t>
            </a:r>
            <a:r>
              <a:rPr lang="en-US" sz="2000" dirty="0"/>
              <a:t> – Train machine learning models such as </a:t>
            </a:r>
            <a:r>
              <a:rPr lang="en-US" sz="2000" b="1" dirty="0"/>
              <a:t>Decision Tree, Random Forest, SVM, and Neural Networks</a:t>
            </a:r>
            <a:r>
              <a:rPr lang="en-US" sz="2000" dirty="0"/>
              <a:t>.</a:t>
            </a:r>
          </a:p>
          <a:p>
            <a:pPr marL="0" indent="0">
              <a:buNone/>
            </a:pPr>
            <a:r>
              <a:rPr lang="en-US" sz="2000" dirty="0"/>
              <a:t>• </a:t>
            </a:r>
            <a:r>
              <a:rPr lang="en-US" sz="2000" b="1" dirty="0"/>
              <a:t>Model Evaluation</a:t>
            </a:r>
            <a:r>
              <a:rPr lang="en-US" sz="2000" dirty="0"/>
              <a:t> – Evaluate model performance using metrics like </a:t>
            </a:r>
            <a:r>
              <a:rPr lang="en-US" sz="2000" b="1" dirty="0"/>
              <a:t>accuracy, precision, recall, F1-score, and ROC-AUC</a:t>
            </a:r>
            <a:r>
              <a:rPr lang="en-US" sz="2000" dirty="0"/>
              <a:t>.</a:t>
            </a:r>
          </a:p>
          <a:p>
            <a:pPr marL="0" indent="0">
              <a:buNone/>
            </a:pPr>
            <a:r>
              <a:rPr lang="en-US" sz="2000" dirty="0"/>
              <a:t>• </a:t>
            </a:r>
            <a:r>
              <a:rPr lang="en-US" sz="2000" b="1" dirty="0"/>
              <a:t>Model Selection</a:t>
            </a:r>
            <a:r>
              <a:rPr lang="en-US" sz="2000" dirty="0"/>
              <a:t> – Select the best-performing model based on evaluation results.</a:t>
            </a:r>
          </a:p>
          <a:p>
            <a:pPr marL="0" indent="0">
              <a:buNone/>
            </a:pPr>
            <a:r>
              <a:rPr lang="en-US" sz="2000" dirty="0" smtClean="0"/>
              <a:t> </a:t>
            </a:r>
            <a:endParaRPr lang="en-US" sz="2000" dirty="0"/>
          </a:p>
          <a:p>
            <a:endParaRPr lang="en-IN" dirty="0"/>
          </a:p>
        </p:txBody>
      </p:sp>
      <p:sp>
        <p:nvSpPr>
          <p:cNvPr id="4" name="Slide Number Placeholder 3"/>
          <p:cNvSpPr>
            <a:spLocks noGrp="1"/>
          </p:cNvSpPr>
          <p:nvPr>
            <p:ph type="sldNum" sz="quarter" idx="12"/>
          </p:nvPr>
        </p:nvSpPr>
        <p:spPr/>
        <p:txBody>
          <a:bodyPr/>
          <a:lstStyle/>
          <a:p>
            <a:fld id="{7F3C451E-D43E-4EBA-A8B7-0A3C29D929DE}" type="slidenum">
              <a:rPr lang="en-IN" smtClean="0"/>
              <a:t>5</a:t>
            </a:fld>
            <a:endParaRPr lang="en-IN"/>
          </a:p>
        </p:txBody>
      </p:sp>
      <p:sp>
        <p:nvSpPr>
          <p:cNvPr id="5" name="Footer Placeholder 4"/>
          <p:cNvSpPr>
            <a:spLocks noGrp="1"/>
          </p:cNvSpPr>
          <p:nvPr>
            <p:ph type="ftr" sz="quarter" idx="11"/>
          </p:nvPr>
        </p:nvSpPr>
        <p:spPr/>
        <p:txBody>
          <a:bodyPr/>
          <a:lstStyle/>
          <a:p>
            <a:r>
              <a:rPr lang="en-IN"/>
              <a:t>Department Name </a:t>
            </a:r>
          </a:p>
        </p:txBody>
      </p:sp>
    </p:spTree>
    <p:extLst>
      <p:ext uri="{BB962C8B-B14F-4D97-AF65-F5344CB8AC3E}">
        <p14:creationId xmlns:p14="http://schemas.microsoft.com/office/powerpoint/2010/main" val="1713427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DE04A-DC1A-3705-8C24-221D55B57CEE}"/>
              </a:ext>
            </a:extLst>
          </p:cNvPr>
          <p:cNvSpPr>
            <a:spLocks noGrp="1"/>
          </p:cNvSpPr>
          <p:nvPr>
            <p:ph type="title"/>
          </p:nvPr>
        </p:nvSpPr>
        <p:spPr/>
        <p:txBody>
          <a:bodyPr/>
          <a:lstStyle/>
          <a:p>
            <a:pPr algn="ctr"/>
            <a:r>
              <a:rPr lang="en-US" dirty="0"/>
              <a:t>Implementation</a:t>
            </a:r>
          </a:p>
        </p:txBody>
      </p:sp>
      <p:sp>
        <p:nvSpPr>
          <p:cNvPr id="3" name="Content Placeholder 2">
            <a:extLst>
              <a:ext uri="{FF2B5EF4-FFF2-40B4-BE49-F238E27FC236}">
                <a16:creationId xmlns:a16="http://schemas.microsoft.com/office/drawing/2014/main" id="{90898159-030D-4325-21B9-90A3CF9173E8}"/>
              </a:ext>
            </a:extLst>
          </p:cNvPr>
          <p:cNvSpPr>
            <a:spLocks noGrp="1"/>
          </p:cNvSpPr>
          <p:nvPr>
            <p:ph idx="1"/>
          </p:nvPr>
        </p:nvSpPr>
        <p:spPr/>
        <p:txBody>
          <a:bodyPr>
            <a:normAutofit fontScale="92500" lnSpcReduction="20000"/>
          </a:bodyPr>
          <a:lstStyle/>
          <a:p>
            <a:pPr marL="0" indent="0">
              <a:buNone/>
            </a:pPr>
            <a:r>
              <a:rPr lang="en-US" dirty="0"/>
              <a:t>• The project was implemented using </a:t>
            </a:r>
            <a:r>
              <a:rPr lang="en-US" b="1" dirty="0"/>
              <a:t>Python programming language</a:t>
            </a:r>
            <a:r>
              <a:rPr lang="en-US" dirty="0"/>
              <a:t> and machine learning libraries.</a:t>
            </a:r>
          </a:p>
          <a:p>
            <a:pPr marL="0" indent="0">
              <a:buNone/>
            </a:pPr>
            <a:r>
              <a:rPr lang="en-US" dirty="0"/>
              <a:t>• Libraries such as </a:t>
            </a:r>
            <a:r>
              <a:rPr lang="en-US" b="1" dirty="0"/>
              <a:t>Pandas and </a:t>
            </a:r>
            <a:r>
              <a:rPr lang="en-US" b="1" dirty="0" err="1"/>
              <a:t>NumPy</a:t>
            </a:r>
            <a:r>
              <a:rPr lang="en-US" dirty="0"/>
              <a:t> were used for data preprocessing and numerical computations.</a:t>
            </a:r>
          </a:p>
          <a:p>
            <a:pPr marL="0" indent="0">
              <a:buNone/>
            </a:pPr>
            <a:r>
              <a:rPr lang="en-US" dirty="0"/>
              <a:t>• </a:t>
            </a:r>
            <a:r>
              <a:rPr lang="en-US" b="1" dirty="0" err="1"/>
              <a:t>Scikit</a:t>
            </a:r>
            <a:r>
              <a:rPr lang="en-US" b="1" dirty="0"/>
              <a:t>-learn</a:t>
            </a:r>
            <a:r>
              <a:rPr lang="en-US" dirty="0"/>
              <a:t> was used to implement machine learning algorithms for cardiovascular disease prediction.</a:t>
            </a:r>
          </a:p>
          <a:p>
            <a:pPr marL="0" indent="0">
              <a:buNone/>
            </a:pPr>
            <a:r>
              <a:rPr lang="en-US" dirty="0"/>
              <a:t>• </a:t>
            </a:r>
            <a:r>
              <a:rPr lang="en-US" b="1" dirty="0" err="1"/>
              <a:t>Matplotlib</a:t>
            </a:r>
            <a:r>
              <a:rPr lang="en-US" dirty="0"/>
              <a:t> was used for data visualization and understanding patterns in the dataset.</a:t>
            </a:r>
          </a:p>
          <a:p>
            <a:pPr marL="0" indent="0">
              <a:buNone/>
            </a:pPr>
            <a:r>
              <a:rPr lang="en-US" dirty="0"/>
              <a:t>• The dataset was divided into </a:t>
            </a:r>
            <a:r>
              <a:rPr lang="en-US" b="1" dirty="0"/>
              <a:t>training and testing sets</a:t>
            </a:r>
            <a:r>
              <a:rPr lang="en-US" dirty="0"/>
              <a:t> to train and evaluate the model.</a:t>
            </a:r>
          </a:p>
          <a:p>
            <a:pPr marL="0" indent="0">
              <a:buNone/>
            </a:pPr>
            <a:r>
              <a:rPr lang="en-US" dirty="0"/>
              <a:t>• The final predictive model was selected based on </a:t>
            </a:r>
            <a:r>
              <a:rPr lang="en-US" b="1" dirty="0"/>
              <a:t>accuracy and evaluation metrics</a:t>
            </a:r>
            <a:r>
              <a:rPr lang="en-US" dirty="0"/>
              <a:t>.</a:t>
            </a:r>
          </a:p>
          <a:p>
            <a:pPr marL="0" indent="0">
              <a:buNone/>
            </a:pPr>
            <a:endParaRPr lang="en-US" dirty="0"/>
          </a:p>
        </p:txBody>
      </p:sp>
      <p:sp>
        <p:nvSpPr>
          <p:cNvPr id="4" name="Footer Placeholder 3">
            <a:extLst>
              <a:ext uri="{FF2B5EF4-FFF2-40B4-BE49-F238E27FC236}">
                <a16:creationId xmlns:a16="http://schemas.microsoft.com/office/drawing/2014/main" id="{CC302145-938E-9E88-2AF5-889C61652C30}"/>
              </a:ext>
            </a:extLst>
          </p:cNvPr>
          <p:cNvSpPr>
            <a:spLocks noGrp="1"/>
          </p:cNvSpPr>
          <p:nvPr>
            <p:ph type="ftr" sz="quarter" idx="11"/>
          </p:nvPr>
        </p:nvSpPr>
        <p:spPr/>
        <p:txBody>
          <a:bodyPr/>
          <a:lstStyle/>
          <a:p>
            <a:r>
              <a:rPr lang="en-IN"/>
              <a:t>Department Name </a:t>
            </a:r>
          </a:p>
        </p:txBody>
      </p:sp>
      <p:sp>
        <p:nvSpPr>
          <p:cNvPr id="5" name="Slide Number Placeholder 4">
            <a:extLst>
              <a:ext uri="{FF2B5EF4-FFF2-40B4-BE49-F238E27FC236}">
                <a16:creationId xmlns:a16="http://schemas.microsoft.com/office/drawing/2014/main" id="{F0C7851F-4827-F3D0-809B-9C40E50FC829}"/>
              </a:ext>
            </a:extLst>
          </p:cNvPr>
          <p:cNvSpPr>
            <a:spLocks noGrp="1"/>
          </p:cNvSpPr>
          <p:nvPr>
            <p:ph type="sldNum" sz="quarter" idx="12"/>
          </p:nvPr>
        </p:nvSpPr>
        <p:spPr/>
        <p:txBody>
          <a:bodyPr/>
          <a:lstStyle/>
          <a:p>
            <a:fld id="{7F3C451E-D43E-4EBA-A8B7-0A3C29D929DE}" type="slidenum">
              <a:rPr lang="en-IN" smtClean="0"/>
              <a:t>6</a:t>
            </a:fld>
            <a:endParaRPr lang="en-IN"/>
          </a:p>
        </p:txBody>
      </p:sp>
    </p:spTree>
    <p:extLst>
      <p:ext uri="{BB962C8B-B14F-4D97-AF65-F5344CB8AC3E}">
        <p14:creationId xmlns:p14="http://schemas.microsoft.com/office/powerpoint/2010/main" val="985240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0DE52-BBA8-BEE0-A7EF-10F635881245}"/>
              </a:ext>
            </a:extLst>
          </p:cNvPr>
          <p:cNvSpPr>
            <a:spLocks noGrp="1"/>
          </p:cNvSpPr>
          <p:nvPr>
            <p:ph type="title"/>
          </p:nvPr>
        </p:nvSpPr>
        <p:spPr/>
        <p:txBody>
          <a:bodyPr/>
          <a:lstStyle/>
          <a:p>
            <a:pPr algn="ctr"/>
            <a:r>
              <a:rPr lang="en-US" dirty="0"/>
              <a:t>Results &amp; Discussion</a:t>
            </a:r>
          </a:p>
        </p:txBody>
      </p:sp>
      <p:sp>
        <p:nvSpPr>
          <p:cNvPr id="3" name="Content Placeholder 2">
            <a:extLst>
              <a:ext uri="{FF2B5EF4-FFF2-40B4-BE49-F238E27FC236}">
                <a16:creationId xmlns:a16="http://schemas.microsoft.com/office/drawing/2014/main" id="{D06B9D8C-083E-EB8E-D0D3-BA3A6F8F16AB}"/>
              </a:ext>
            </a:extLst>
          </p:cNvPr>
          <p:cNvSpPr>
            <a:spLocks noGrp="1"/>
          </p:cNvSpPr>
          <p:nvPr>
            <p:ph idx="1"/>
          </p:nvPr>
        </p:nvSpPr>
        <p:spPr/>
        <p:txBody>
          <a:bodyPr>
            <a:normAutofit fontScale="92500" lnSpcReduction="20000"/>
          </a:bodyPr>
          <a:lstStyle/>
          <a:p>
            <a:pPr marL="0" indent="0">
              <a:buNone/>
            </a:pPr>
            <a:r>
              <a:rPr lang="en-US" dirty="0"/>
              <a:t>• The machine learning models were successfully trained using the cardiovascular disease dataset.</a:t>
            </a:r>
          </a:p>
          <a:p>
            <a:pPr marL="0" indent="0">
              <a:buNone/>
            </a:pPr>
            <a:r>
              <a:rPr lang="en-US" dirty="0"/>
              <a:t>• Different algorithms such as </a:t>
            </a:r>
            <a:r>
              <a:rPr lang="en-US" b="1" dirty="0"/>
              <a:t>Decision Tree, Random Forest, SVM, and Neural Networks</a:t>
            </a:r>
            <a:r>
              <a:rPr lang="en-US" dirty="0"/>
              <a:t> were evaluated.</a:t>
            </a:r>
          </a:p>
          <a:p>
            <a:pPr marL="0" indent="0">
              <a:buNone/>
            </a:pPr>
            <a:r>
              <a:rPr lang="en-US" dirty="0"/>
              <a:t>• The best-performing model achieved </a:t>
            </a:r>
            <a:r>
              <a:rPr lang="en-US" b="1" dirty="0"/>
              <a:t>approximately 92% prediction accuracy</a:t>
            </a:r>
            <a:r>
              <a:rPr lang="en-US" dirty="0"/>
              <a:t> on the test dataset.</a:t>
            </a:r>
          </a:p>
          <a:p>
            <a:pPr marL="0" indent="0">
              <a:buNone/>
            </a:pPr>
            <a:r>
              <a:rPr lang="en-US" dirty="0"/>
              <a:t>• The model also showed strong performance with </a:t>
            </a:r>
            <a:r>
              <a:rPr lang="en-US" b="1" dirty="0"/>
              <a:t>high precision, recall, and F1-score values</a:t>
            </a:r>
            <a:r>
              <a:rPr lang="en-US" dirty="0"/>
              <a:t>.</a:t>
            </a:r>
          </a:p>
          <a:p>
            <a:pPr marL="0" indent="0">
              <a:buNone/>
            </a:pPr>
            <a:r>
              <a:rPr lang="en-US" dirty="0"/>
              <a:t>• Feature analysis revealed that factors such as </a:t>
            </a:r>
            <a:r>
              <a:rPr lang="en-US" b="1" dirty="0"/>
              <a:t>age, cholesterol level, blood pressure, and chest pain type</a:t>
            </a:r>
            <a:r>
              <a:rPr lang="en-US" dirty="0"/>
              <a:t> play a major role in predicting cardiovascular disease.</a:t>
            </a:r>
          </a:p>
          <a:p>
            <a:pPr marL="0" indent="0">
              <a:buNone/>
            </a:pPr>
            <a:r>
              <a:rPr lang="en-US" dirty="0"/>
              <a:t>• The results demonstrate that </a:t>
            </a:r>
            <a:r>
              <a:rPr lang="en-US" b="1" dirty="0"/>
              <a:t>machine learning can effectively assist in early detection of cardiovascular disease</a:t>
            </a:r>
            <a:r>
              <a:rPr lang="en-US" dirty="0"/>
              <a:t>.</a:t>
            </a:r>
          </a:p>
          <a:p>
            <a:pPr marL="0" indent="0">
              <a:buNone/>
            </a:pPr>
            <a:endParaRPr lang="en-US" dirty="0"/>
          </a:p>
        </p:txBody>
      </p:sp>
      <p:sp>
        <p:nvSpPr>
          <p:cNvPr id="4" name="Footer Placeholder 3">
            <a:extLst>
              <a:ext uri="{FF2B5EF4-FFF2-40B4-BE49-F238E27FC236}">
                <a16:creationId xmlns:a16="http://schemas.microsoft.com/office/drawing/2014/main" id="{05948CB8-FDD2-6EF3-7757-AD5A620C8453}"/>
              </a:ext>
            </a:extLst>
          </p:cNvPr>
          <p:cNvSpPr>
            <a:spLocks noGrp="1"/>
          </p:cNvSpPr>
          <p:nvPr>
            <p:ph type="ftr" sz="quarter" idx="11"/>
          </p:nvPr>
        </p:nvSpPr>
        <p:spPr/>
        <p:txBody>
          <a:bodyPr/>
          <a:lstStyle/>
          <a:p>
            <a:r>
              <a:rPr lang="en-IN"/>
              <a:t>Department Name </a:t>
            </a:r>
          </a:p>
        </p:txBody>
      </p:sp>
      <p:sp>
        <p:nvSpPr>
          <p:cNvPr id="5" name="Slide Number Placeholder 4">
            <a:extLst>
              <a:ext uri="{FF2B5EF4-FFF2-40B4-BE49-F238E27FC236}">
                <a16:creationId xmlns:a16="http://schemas.microsoft.com/office/drawing/2014/main" id="{388B2875-7F2E-34E2-339D-E084D7954DD5}"/>
              </a:ext>
            </a:extLst>
          </p:cNvPr>
          <p:cNvSpPr>
            <a:spLocks noGrp="1"/>
          </p:cNvSpPr>
          <p:nvPr>
            <p:ph type="sldNum" sz="quarter" idx="12"/>
          </p:nvPr>
        </p:nvSpPr>
        <p:spPr/>
        <p:txBody>
          <a:bodyPr/>
          <a:lstStyle/>
          <a:p>
            <a:fld id="{7F3C451E-D43E-4EBA-A8B7-0A3C29D929DE}" type="slidenum">
              <a:rPr lang="en-IN" smtClean="0"/>
              <a:t>7</a:t>
            </a:fld>
            <a:endParaRPr lang="en-IN"/>
          </a:p>
        </p:txBody>
      </p:sp>
    </p:spTree>
    <p:extLst>
      <p:ext uri="{BB962C8B-B14F-4D97-AF65-F5344CB8AC3E}">
        <p14:creationId xmlns:p14="http://schemas.microsoft.com/office/powerpoint/2010/main" val="41887218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D76AB-5036-E13F-5273-5FB68CC07FAC}"/>
              </a:ext>
            </a:extLst>
          </p:cNvPr>
          <p:cNvSpPr>
            <a:spLocks noGrp="1"/>
          </p:cNvSpPr>
          <p:nvPr>
            <p:ph type="title"/>
          </p:nvPr>
        </p:nvSpPr>
        <p:spPr/>
        <p:txBody>
          <a:bodyPr/>
          <a:lstStyle/>
          <a:p>
            <a:pPr algn="ctr"/>
            <a:r>
              <a:rPr lang="en-US" dirty="0"/>
              <a:t>Future Scope</a:t>
            </a:r>
          </a:p>
        </p:txBody>
      </p:sp>
      <p:sp>
        <p:nvSpPr>
          <p:cNvPr id="3" name="Content Placeholder 2">
            <a:extLst>
              <a:ext uri="{FF2B5EF4-FFF2-40B4-BE49-F238E27FC236}">
                <a16:creationId xmlns:a16="http://schemas.microsoft.com/office/drawing/2014/main" id="{97900BB0-E590-7DBD-5C9E-40511D50C9CF}"/>
              </a:ext>
            </a:extLst>
          </p:cNvPr>
          <p:cNvSpPr>
            <a:spLocks noGrp="1"/>
          </p:cNvSpPr>
          <p:nvPr>
            <p:ph idx="1"/>
          </p:nvPr>
        </p:nvSpPr>
        <p:spPr/>
        <p:txBody>
          <a:bodyPr>
            <a:normAutofit fontScale="92500" lnSpcReduction="20000"/>
          </a:bodyPr>
          <a:lstStyle/>
          <a:p>
            <a:pPr marL="0" indent="0">
              <a:buNone/>
            </a:pPr>
            <a:r>
              <a:rPr lang="en-US" dirty="0"/>
              <a:t>• Use </a:t>
            </a:r>
            <a:r>
              <a:rPr lang="en-US" b="1" dirty="0"/>
              <a:t>larger and more diverse healthcare datasets</a:t>
            </a:r>
            <a:r>
              <a:rPr lang="en-US" dirty="0"/>
              <a:t> to improve prediction accuracy.</a:t>
            </a:r>
          </a:p>
          <a:p>
            <a:pPr marL="0" indent="0">
              <a:buNone/>
            </a:pPr>
            <a:r>
              <a:rPr lang="en-US" dirty="0"/>
              <a:t>• Apply </a:t>
            </a:r>
            <a:r>
              <a:rPr lang="en-US" b="1" dirty="0"/>
              <a:t>advanced deep learning models</a:t>
            </a:r>
            <a:r>
              <a:rPr lang="en-US" dirty="0"/>
              <a:t> for better detection of complex patterns in medical data.</a:t>
            </a:r>
          </a:p>
          <a:p>
            <a:pPr marL="0" indent="0">
              <a:buNone/>
            </a:pPr>
            <a:r>
              <a:rPr lang="en-US" dirty="0"/>
              <a:t>• Integrate </a:t>
            </a:r>
            <a:r>
              <a:rPr lang="en-US" b="1" dirty="0"/>
              <a:t>real-time health data from wearable devices</a:t>
            </a:r>
            <a:r>
              <a:rPr lang="en-US" dirty="0"/>
              <a:t> such as smart watches and fitness trackers.</a:t>
            </a:r>
          </a:p>
          <a:p>
            <a:pPr marL="0" indent="0">
              <a:buNone/>
            </a:pPr>
            <a:r>
              <a:rPr lang="en-US" dirty="0"/>
              <a:t>• Develop a </a:t>
            </a:r>
            <a:r>
              <a:rPr lang="en-US" b="1" dirty="0"/>
              <a:t>web or mobile application</a:t>
            </a:r>
            <a:r>
              <a:rPr lang="en-US" dirty="0"/>
              <a:t> to help doctors easily access the prediction system.</a:t>
            </a:r>
          </a:p>
          <a:p>
            <a:pPr marL="0" indent="0">
              <a:buNone/>
            </a:pPr>
            <a:r>
              <a:rPr lang="en-US" dirty="0"/>
              <a:t>• Improve model </a:t>
            </a:r>
            <a:r>
              <a:rPr lang="en-US" dirty="0" err="1"/>
              <a:t>explainability</a:t>
            </a:r>
            <a:r>
              <a:rPr lang="en-US" dirty="0"/>
              <a:t> using </a:t>
            </a:r>
            <a:r>
              <a:rPr lang="en-US" b="1" dirty="0"/>
              <a:t>feature importance and visualization techniques</a:t>
            </a:r>
            <a:r>
              <a:rPr lang="en-US" dirty="0"/>
              <a:t>.</a:t>
            </a:r>
          </a:p>
          <a:p>
            <a:pPr marL="0" indent="0">
              <a:buNone/>
            </a:pPr>
            <a:r>
              <a:rPr lang="en-US" dirty="0"/>
              <a:t>• Integrate the system with </a:t>
            </a:r>
            <a:r>
              <a:rPr lang="en-US" b="1" dirty="0"/>
              <a:t>hospital electronic health record (EHR) systems</a:t>
            </a:r>
            <a:r>
              <a:rPr lang="en-US" dirty="0"/>
              <a:t> for practical clinical use.</a:t>
            </a:r>
          </a:p>
          <a:p>
            <a:pPr marL="0" indent="0">
              <a:buNone/>
            </a:pPr>
            <a:endParaRPr lang="en-US" dirty="0"/>
          </a:p>
        </p:txBody>
      </p:sp>
      <p:sp>
        <p:nvSpPr>
          <p:cNvPr id="4" name="Footer Placeholder 3">
            <a:extLst>
              <a:ext uri="{FF2B5EF4-FFF2-40B4-BE49-F238E27FC236}">
                <a16:creationId xmlns:a16="http://schemas.microsoft.com/office/drawing/2014/main" id="{A170DA1F-D281-37AD-7BA9-9490BCADD67D}"/>
              </a:ext>
            </a:extLst>
          </p:cNvPr>
          <p:cNvSpPr>
            <a:spLocks noGrp="1"/>
          </p:cNvSpPr>
          <p:nvPr>
            <p:ph type="ftr" sz="quarter" idx="11"/>
          </p:nvPr>
        </p:nvSpPr>
        <p:spPr/>
        <p:txBody>
          <a:bodyPr/>
          <a:lstStyle/>
          <a:p>
            <a:r>
              <a:rPr lang="en-IN"/>
              <a:t>Department Name </a:t>
            </a:r>
          </a:p>
        </p:txBody>
      </p:sp>
      <p:sp>
        <p:nvSpPr>
          <p:cNvPr id="5" name="Slide Number Placeholder 4">
            <a:extLst>
              <a:ext uri="{FF2B5EF4-FFF2-40B4-BE49-F238E27FC236}">
                <a16:creationId xmlns:a16="http://schemas.microsoft.com/office/drawing/2014/main" id="{504E6C2F-2B99-BD72-FDD4-6572829524AE}"/>
              </a:ext>
            </a:extLst>
          </p:cNvPr>
          <p:cNvSpPr>
            <a:spLocks noGrp="1"/>
          </p:cNvSpPr>
          <p:nvPr>
            <p:ph type="sldNum" sz="quarter" idx="12"/>
          </p:nvPr>
        </p:nvSpPr>
        <p:spPr/>
        <p:txBody>
          <a:bodyPr/>
          <a:lstStyle/>
          <a:p>
            <a:fld id="{7F3C451E-D43E-4EBA-A8B7-0A3C29D929DE}" type="slidenum">
              <a:rPr lang="en-IN" smtClean="0"/>
              <a:t>8</a:t>
            </a:fld>
            <a:endParaRPr lang="en-IN"/>
          </a:p>
        </p:txBody>
      </p:sp>
    </p:spTree>
    <p:extLst>
      <p:ext uri="{BB962C8B-B14F-4D97-AF65-F5344CB8AC3E}">
        <p14:creationId xmlns:p14="http://schemas.microsoft.com/office/powerpoint/2010/main" val="29995575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763"/>
            <a:ext cx="10515600" cy="1325563"/>
          </a:xfrm>
        </p:spPr>
        <p:txBody>
          <a:bodyPr/>
          <a:lstStyle/>
          <a:p>
            <a:pPr algn="ctr"/>
            <a:r>
              <a:rPr lang="en-US" sz="3200" b="1" dirty="0">
                <a:latin typeface="+mn-lt"/>
              </a:rPr>
              <a:t>References</a:t>
            </a:r>
            <a:endParaRPr lang="en-IN" sz="3200" b="1" dirty="0">
              <a:latin typeface="+mn-lt"/>
            </a:endParaRPr>
          </a:p>
        </p:txBody>
      </p:sp>
      <p:sp>
        <p:nvSpPr>
          <p:cNvPr id="3" name="Content Placeholder 2"/>
          <p:cNvSpPr>
            <a:spLocks noGrp="1"/>
          </p:cNvSpPr>
          <p:nvPr>
            <p:ph idx="1"/>
          </p:nvPr>
        </p:nvSpPr>
        <p:spPr>
          <a:xfrm>
            <a:off x="838200" y="1549400"/>
            <a:ext cx="10515600" cy="4627563"/>
          </a:xfrm>
        </p:spPr>
        <p:txBody>
          <a:bodyPr/>
          <a:lstStyle/>
          <a:p>
            <a:pPr marL="0" indent="0">
              <a:buNone/>
            </a:pPr>
            <a:r>
              <a:rPr lang="en-IN" sz="2000" dirty="0"/>
              <a:t>• World Health Organization (WHO) – Cardiovascular Diseases Report</a:t>
            </a:r>
            <a:br>
              <a:rPr lang="en-IN" sz="2000" dirty="0"/>
            </a:br>
            <a:r>
              <a:rPr lang="en-IN" sz="2000" dirty="0">
                <a:hlinkClick r:id="rId2"/>
              </a:rPr>
              <a:t>https://www.who.int</a:t>
            </a:r>
            <a:endParaRPr lang="en-IN" sz="2000" dirty="0"/>
          </a:p>
          <a:p>
            <a:pPr marL="0" indent="0">
              <a:buNone/>
            </a:pPr>
            <a:r>
              <a:rPr lang="en-IN" sz="2000" dirty="0"/>
              <a:t>• UCI Machine Learning Repository – Heart Disease Dataset</a:t>
            </a:r>
            <a:br>
              <a:rPr lang="en-IN" sz="2000" dirty="0"/>
            </a:br>
            <a:r>
              <a:rPr lang="en-IN" sz="2000" dirty="0">
                <a:hlinkClick r:id="rId3"/>
              </a:rPr>
              <a:t>https://archive.ics.uci.edu</a:t>
            </a:r>
            <a:endParaRPr lang="en-IN" sz="2000" dirty="0"/>
          </a:p>
          <a:p>
            <a:pPr marL="0" indent="0">
              <a:buNone/>
            </a:pPr>
            <a:r>
              <a:rPr lang="en-IN" sz="2000" dirty="0"/>
              <a:t>• Kumar, S. et al. (2018) – Predicting Cardiovascular Disease using Machine Learning</a:t>
            </a:r>
          </a:p>
          <a:p>
            <a:pPr marL="0" indent="0">
              <a:buNone/>
            </a:pPr>
            <a:r>
              <a:rPr lang="en-IN" sz="2000" dirty="0"/>
              <a:t>• Liu, J. et al. (2019) – Machine Learning Approach for Cardiovascular Disease Prediction</a:t>
            </a:r>
          </a:p>
          <a:p>
            <a:pPr marL="0" indent="0">
              <a:buNone/>
            </a:pPr>
            <a:r>
              <a:rPr lang="en-IN" sz="2000" dirty="0"/>
              <a:t>• </a:t>
            </a:r>
            <a:r>
              <a:rPr lang="en-IN" sz="2000" dirty="0" err="1"/>
              <a:t>Scikit</a:t>
            </a:r>
            <a:r>
              <a:rPr lang="en-IN" sz="2000" dirty="0"/>
              <a:t>-learn Documentation – </a:t>
            </a:r>
            <a:r>
              <a:rPr lang="en-IN" sz="2000" dirty="0">
                <a:hlinkClick r:id="rId4"/>
              </a:rPr>
              <a:t>https://scikit-learn.org</a:t>
            </a:r>
            <a:endParaRPr lang="en-IN" sz="2000" dirty="0"/>
          </a:p>
          <a:p>
            <a:pPr marL="0" indent="0">
              <a:buNone/>
            </a:pPr>
            <a:r>
              <a:rPr lang="en-IN" sz="2000" dirty="0"/>
              <a:t>• Python Data Science Libraries Documentation (Pandas, </a:t>
            </a:r>
            <a:r>
              <a:rPr lang="en-IN" sz="2000" dirty="0" err="1"/>
              <a:t>NumPy</a:t>
            </a:r>
            <a:r>
              <a:rPr lang="en-IN" sz="2000" dirty="0"/>
              <a:t>, </a:t>
            </a:r>
            <a:r>
              <a:rPr lang="en-IN" sz="2000" dirty="0" err="1"/>
              <a:t>Matplotlib</a:t>
            </a:r>
            <a:r>
              <a:rPr lang="en-IN" sz="2000" dirty="0"/>
              <a:t>)</a:t>
            </a:r>
          </a:p>
          <a:p>
            <a:pPr marL="0" indent="0">
              <a:buNone/>
            </a:pPr>
            <a:endParaRPr lang="en-US" sz="2000" dirty="0"/>
          </a:p>
        </p:txBody>
      </p:sp>
      <p:sp>
        <p:nvSpPr>
          <p:cNvPr id="4" name="Slide Number Placeholder 3"/>
          <p:cNvSpPr>
            <a:spLocks noGrp="1"/>
          </p:cNvSpPr>
          <p:nvPr>
            <p:ph type="sldNum" sz="quarter" idx="12"/>
          </p:nvPr>
        </p:nvSpPr>
        <p:spPr/>
        <p:txBody>
          <a:bodyPr/>
          <a:lstStyle/>
          <a:p>
            <a:fld id="{7F3C451E-D43E-4EBA-A8B7-0A3C29D929DE}" type="slidenum">
              <a:rPr lang="en-IN" smtClean="0"/>
              <a:t>9</a:t>
            </a:fld>
            <a:endParaRPr lang="en-IN"/>
          </a:p>
        </p:txBody>
      </p:sp>
      <p:sp>
        <p:nvSpPr>
          <p:cNvPr id="5" name="Footer Placeholder 4"/>
          <p:cNvSpPr>
            <a:spLocks noGrp="1"/>
          </p:cNvSpPr>
          <p:nvPr>
            <p:ph type="ftr" sz="quarter" idx="11"/>
          </p:nvPr>
        </p:nvSpPr>
        <p:spPr/>
        <p:txBody>
          <a:bodyPr/>
          <a:lstStyle/>
          <a:p>
            <a:r>
              <a:rPr lang="en-IN" dirty="0"/>
              <a:t>Department Name </a:t>
            </a:r>
          </a:p>
        </p:txBody>
      </p:sp>
    </p:spTree>
    <p:extLst>
      <p:ext uri="{BB962C8B-B14F-4D97-AF65-F5344CB8AC3E}">
        <p14:creationId xmlns:p14="http://schemas.microsoft.com/office/powerpoint/2010/main" val="40906777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35704" y="4763"/>
            <a:ext cx="8418095" cy="1463090"/>
          </a:xfrm>
        </p:spPr>
        <p:txBody>
          <a:bodyPr/>
          <a:lstStyle/>
          <a:p>
            <a:pPr algn="ctr"/>
            <a:endParaRPr lang="en-IN" sz="3200" b="1" dirty="0">
              <a:latin typeface="+mn-lt"/>
            </a:endParaRPr>
          </a:p>
        </p:txBody>
      </p:sp>
      <p:sp>
        <p:nvSpPr>
          <p:cNvPr id="3" name="Content Placeholder 2"/>
          <p:cNvSpPr>
            <a:spLocks noGrp="1"/>
          </p:cNvSpPr>
          <p:nvPr>
            <p:ph idx="1"/>
          </p:nvPr>
        </p:nvSpPr>
        <p:spPr>
          <a:xfrm>
            <a:off x="838200" y="3225801"/>
            <a:ext cx="10515600" cy="1155700"/>
          </a:xfrm>
        </p:spPr>
        <p:txBody>
          <a:bodyPr/>
          <a:lstStyle/>
          <a:p>
            <a:pPr marL="0" indent="0" algn="ctr">
              <a:buNone/>
            </a:pPr>
            <a:r>
              <a:rPr lang="en-US" sz="2900" b="1" dirty="0"/>
              <a:t>Thank You</a:t>
            </a:r>
          </a:p>
          <a:p>
            <a:pPr marL="0" indent="0" algn="ctr">
              <a:buNone/>
            </a:pPr>
            <a:r>
              <a:rPr lang="en-US" sz="2900" b="1" dirty="0"/>
              <a:t>Queries?</a:t>
            </a:r>
          </a:p>
          <a:p>
            <a:endParaRPr lang="en-IN" dirty="0"/>
          </a:p>
        </p:txBody>
      </p:sp>
      <p:sp>
        <p:nvSpPr>
          <p:cNvPr id="4" name="Slide Number Placeholder 3"/>
          <p:cNvSpPr>
            <a:spLocks noGrp="1"/>
          </p:cNvSpPr>
          <p:nvPr>
            <p:ph type="sldNum" sz="quarter" idx="12"/>
          </p:nvPr>
        </p:nvSpPr>
        <p:spPr/>
        <p:txBody>
          <a:bodyPr/>
          <a:lstStyle/>
          <a:p>
            <a:fld id="{7F3C451E-D43E-4EBA-A8B7-0A3C29D929DE}" type="slidenum">
              <a:rPr lang="en-IN" smtClean="0"/>
              <a:t>10</a:t>
            </a:fld>
            <a:endParaRPr lang="en-IN"/>
          </a:p>
        </p:txBody>
      </p:sp>
      <p:sp>
        <p:nvSpPr>
          <p:cNvPr id="5" name="Footer Placeholder 4"/>
          <p:cNvSpPr>
            <a:spLocks noGrp="1"/>
          </p:cNvSpPr>
          <p:nvPr>
            <p:ph type="ftr" sz="quarter" idx="11"/>
          </p:nvPr>
        </p:nvSpPr>
        <p:spPr/>
        <p:txBody>
          <a:bodyPr/>
          <a:lstStyle/>
          <a:p>
            <a:r>
              <a:rPr lang="en-IN"/>
              <a:t>Department Name </a:t>
            </a:r>
          </a:p>
        </p:txBody>
      </p:sp>
    </p:spTree>
    <p:extLst>
      <p:ext uri="{BB962C8B-B14F-4D97-AF65-F5344CB8AC3E}">
        <p14:creationId xmlns:p14="http://schemas.microsoft.com/office/powerpoint/2010/main" val="39069682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TotalTime>
  <Words>888</Words>
  <Application>Microsoft Office PowerPoint</Application>
  <PresentationFormat>Widescreen</PresentationFormat>
  <Paragraphs>83</Paragraphs>
  <Slides>10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Semester Training Report Presentation on “CardioVascular Disease Prediction”</vt:lpstr>
      <vt:lpstr>Abstract</vt:lpstr>
      <vt:lpstr>Introduction</vt:lpstr>
      <vt:lpstr>Objectives of Project</vt:lpstr>
      <vt:lpstr>Methodology</vt:lpstr>
      <vt:lpstr>Implementation</vt:lpstr>
      <vt:lpstr>Results &amp; Discussion</vt:lpstr>
      <vt:lpstr>Future Scope</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 Term Presentation on “Topic”</dc:title>
  <dc:creator>Admin</dc:creator>
  <cp:lastModifiedBy>Dell</cp:lastModifiedBy>
  <cp:revision>10</cp:revision>
  <dcterms:created xsi:type="dcterms:W3CDTF">2021-04-30T06:32:54Z</dcterms:created>
  <dcterms:modified xsi:type="dcterms:W3CDTF">2026-03-11T18:02:15Z</dcterms:modified>
</cp:coreProperties>
</file>